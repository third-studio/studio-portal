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164592"/>
          </a:xfrm>
          <a:prstGeom prst="rect">
            <a:avLst/>
          </a:prstGeom>
          <a:solidFill>
            <a:srgbClr val="F2B33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731520"/>
            <a:ext cx="164592" cy="164592"/>
          </a:xfrm>
          <a:prstGeom prst="rect">
            <a:avLst/>
          </a:prstGeom>
          <a:solidFill>
            <a:srgbClr val="E8654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548640"/>
            <a:ext cx="164592" cy="164592"/>
          </a:xfrm>
          <a:prstGeom prst="rect">
            <a:avLst/>
          </a:prstGeom>
          <a:solidFill>
            <a:srgbClr val="12A5C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731520"/>
            <a:ext cx="164592" cy="1645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5669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2A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CARAÏBES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Martinique.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Avec ceux qui en viennent.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66928" y="41148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créative &amp; storyboard — film destination premium incarné par les PNC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66928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A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« Vidéos destinations » · Épisode 1 : Martinique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149840" y="4480560"/>
            <a:ext cx="1463040" cy="1463040"/>
          </a:xfrm>
          <a:prstGeom prst="ellipse">
            <a:avLst/>
          </a:prstGeom>
          <a:solidFill>
            <a:srgbClr val="F2B33D"/>
          </a:solidFill>
          <a:ln/>
        </p:spPr>
      </p:sp>
      <p:sp>
        <p:nvSpPr>
          <p:cNvPr id="11" name="Shape 9"/>
          <p:cNvSpPr/>
          <p:nvPr/>
        </p:nvSpPr>
        <p:spPr>
          <a:xfrm>
            <a:off x="8778240" y="5623560"/>
            <a:ext cx="3383280" cy="1234440"/>
          </a:xfrm>
          <a:prstGeom prst="rect">
            <a:avLst/>
          </a:prstGeom>
          <a:solidFill>
            <a:srgbClr val="12A5C6">
              <a:alpha val="8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brief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577840" cy="4480560"/>
          </a:xfrm>
          <a:prstGeom prst="roundRect">
            <a:avLst>
              <a:gd name="adj" fmla="val 2449"/>
            </a:avLst>
          </a:prstGeom>
          <a:solidFill>
            <a:srgbClr val="E4F5F9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demande d'Air Caraïbes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224028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une série de vidéos destinations, à commencer par la Martinique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S'inspirer des formats développés par Turkish Airlines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à l'univers et à l'identité d'Air Caraïbes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contenu premium, immersif et incarné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destination vécue à travers l'expérience des PNC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92240" y="146304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0B2447"/>
          </a:solidFill>
          <a:ln/>
        </p:spPr>
      </p:sp>
      <p:sp>
        <p:nvSpPr>
          <p:cNvPr id="7" name="Text 5"/>
          <p:cNvSpPr/>
          <p:nvPr/>
        </p:nvSpPr>
        <p:spPr>
          <a:xfrm>
            <a:off x="6812280" y="1783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lecture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12280" y="2286000"/>
            <a:ext cx="4480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n'est pas un spot publicitaire : c'est un travel film de marque.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force du format de référence tient à une chose : une personne réelle, en uniforme, qui nous ouvre les portes d'une ville. Notre travail : garder cette mécanique, et la rendre profondément caribéenne.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Caraïbes — Vidéo destination Martinique  ·  Proposition créative  · 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521440" y="6446520"/>
            <a:ext cx="82296" cy="82296"/>
          </a:xfrm>
          <a:prstGeom prst="rect">
            <a:avLst/>
          </a:prstGeom>
          <a:solidFill>
            <a:srgbClr val="F2B33D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1440" y="6547104"/>
            <a:ext cx="82296" cy="82296"/>
          </a:xfrm>
          <a:prstGeom prst="rect">
            <a:avLst/>
          </a:prstGeom>
          <a:solidFill>
            <a:srgbClr val="E8654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622024" y="6446520"/>
            <a:ext cx="82296" cy="82296"/>
          </a:xfrm>
          <a:prstGeom prst="rect">
            <a:avLst/>
          </a:prstGeom>
          <a:solidFill>
            <a:srgbClr val="12A5C6"/>
          </a:solidFill>
          <a:ln/>
        </p:spPr>
      </p:sp>
      <p:sp>
        <p:nvSpPr>
          <p:cNvPr id="13" name="Shape 11"/>
          <p:cNvSpPr/>
          <p:nvPr/>
        </p:nvSpPr>
        <p:spPr>
          <a:xfrm>
            <a:off x="11622024" y="6547104"/>
            <a:ext cx="82296" cy="82296"/>
          </a:xfrm>
          <a:prstGeom prst="rect">
            <a:avLst/>
          </a:prstGeom>
          <a:solidFill>
            <a:srgbClr val="0B2447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codes du format de référence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6F9FB"/>
          </a:solidFill>
          <a:ln/>
          <a:effectLst>
            <a:outerShdw sx="100000" sy="100000" kx="0" ky="0" algn="bl" rotWithShape="0" blurRad="76200" dist="25400" dir="5400000">
              <a:srgbClr val="9AAAB8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47088"/>
            <a:ext cx="457200" cy="457200"/>
          </a:xfrm>
          <a:prstGeom prst="ellipse">
            <a:avLst/>
          </a:prstGeom>
          <a:solidFill>
            <a:srgbClr val="12A5C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8745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Incarnation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331720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Un(e) PNC réel(le) — pas un acteur. L'insider crédible qui connaît la destination et devient le fil narratif du film.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6F9FB"/>
          </a:solidFill>
          <a:ln/>
          <a:effectLst>
            <a:outerShdw sx="100000" sy="100000" kx="0" ky="0" algn="bl" rotWithShape="0" blurRad="76200" dist="25400" dir="5400000">
              <a:srgbClr val="9AAAB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0" y="1847088"/>
            <a:ext cx="457200" cy="457200"/>
          </a:xfrm>
          <a:prstGeom prst="ellipse">
            <a:avLst/>
          </a:prstGeom>
          <a:solidFill>
            <a:srgbClr val="F2B33D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78040" y="18745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Journée idéale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78040" y="2331720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escale racontée du lever au coucher du soleil : un arc temporel simple qui structure naturellement le montage.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6F9FB"/>
          </a:solidFill>
          <a:ln/>
          <a:effectLst>
            <a:outerShdw sx="100000" sy="100000" kx="0" ky="0" algn="bl" rotWithShape="0" blurRad="76200" dist="25400" dir="5400000">
              <a:srgbClr val="9AAAB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224528"/>
            <a:ext cx="457200" cy="457200"/>
          </a:xfrm>
          <a:prstGeom prst="ellipse">
            <a:avLst/>
          </a:prstGeom>
          <a:solidFill>
            <a:srgbClr val="E8654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4251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Grammaire cinéma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4709160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film, slow motion maîtrisé, drone parcimonieux, plans serrés sensoriels : mains, textures, eau, nourriture.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63640" y="393192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6F9FB"/>
          </a:solidFill>
          <a:ln/>
          <a:effectLst>
            <a:outerShdw sx="100000" sy="100000" kx="0" ky="0" algn="bl" rotWithShape="0" blurRad="76200" dist="25400" dir="5400000">
              <a:srgbClr val="9AAAB8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37960" y="4224528"/>
            <a:ext cx="457200" cy="45720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78040" y="4251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 signature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4709160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Raccords dans le mouvement : porte d'avion → porte d'hôtel, hublot → paysage. C'est la signature mémorielle du format.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Caraïbes — Vidéo destination Martinique  ·  Proposition créative  ·  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1521440" y="6446520"/>
            <a:ext cx="82296" cy="82296"/>
          </a:xfrm>
          <a:prstGeom prst="rect">
            <a:avLst/>
          </a:prstGeom>
          <a:solidFill>
            <a:srgbClr val="F2B33D"/>
          </a:solidFill>
          <a:ln/>
        </p:spPr>
      </p:sp>
      <p:sp>
        <p:nvSpPr>
          <p:cNvPr id="25" name="Shape 23"/>
          <p:cNvSpPr/>
          <p:nvPr/>
        </p:nvSpPr>
        <p:spPr>
          <a:xfrm>
            <a:off x="11521440" y="6547104"/>
            <a:ext cx="82296" cy="82296"/>
          </a:xfrm>
          <a:prstGeom prst="rect">
            <a:avLst/>
          </a:prstGeom>
          <a:solidFill>
            <a:srgbClr val="E8654F"/>
          </a:solidFill>
          <a:ln/>
        </p:spPr>
      </p:sp>
      <p:sp>
        <p:nvSpPr>
          <p:cNvPr id="26" name="Shape 24"/>
          <p:cNvSpPr/>
          <p:nvPr/>
        </p:nvSpPr>
        <p:spPr>
          <a:xfrm>
            <a:off x="11622024" y="6446520"/>
            <a:ext cx="82296" cy="82296"/>
          </a:xfrm>
          <a:prstGeom prst="rect">
            <a:avLst/>
          </a:prstGeom>
          <a:solidFill>
            <a:srgbClr val="12A5C6"/>
          </a:solidFill>
          <a:ln/>
        </p:spPr>
      </p:sp>
      <p:sp>
        <p:nvSpPr>
          <p:cNvPr id="27" name="Shape 25"/>
          <p:cNvSpPr/>
          <p:nvPr/>
        </p:nvSpPr>
        <p:spPr>
          <a:xfrm>
            <a:off x="11622024" y="6547104"/>
            <a:ext cx="82296" cy="82296"/>
          </a:xfrm>
          <a:prstGeom prst="rect">
            <a:avLst/>
          </a:prstGeom>
          <a:solidFill>
            <a:srgbClr val="0B2447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parti-pris Air Caraïbes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2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Turkish Airlines fait découvrir une escale.</a:t>
            </a:r>
            <a:endParaRPr lang="en-US" sz="2400" dirty="0"/>
          </a:p>
          <a:p>
            <a:pPr indent="0" marL="0">
              <a:buNone/>
            </a:pPr>
            <a:r>
              <a:rPr lang="en-US" sz="2400" i="1" dirty="0">
                <a:solidFill>
                  <a:srgbClr val="F2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 Caraïbes ne dessert pas les Antilles — elle en vient.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PNC ne découvre pas la Martinique : il/elle rentre chez soi, et nous accueille comme on accueille un ami. C'est l'angle le plus différenciant — impossible à copier par une compagnie internationale.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02336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2365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4297680"/>
            <a:ext cx="100584" cy="100584"/>
          </a:xfrm>
          <a:prstGeom prst="rect">
            <a:avLst/>
          </a:prstGeom>
          <a:solidFill>
            <a:srgbClr val="F2B33D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4416552"/>
            <a:ext cx="100584" cy="100584"/>
          </a:xfrm>
          <a:prstGeom prst="rect">
            <a:avLst/>
          </a:prstGeom>
          <a:solidFill>
            <a:srgbClr val="E8654F"/>
          </a:solidFill>
          <a:ln/>
        </p:spPr>
      </p:sp>
      <p:sp>
        <p:nvSpPr>
          <p:cNvPr id="8" name="Shape 6"/>
          <p:cNvSpPr/>
          <p:nvPr/>
        </p:nvSpPr>
        <p:spPr>
          <a:xfrm>
            <a:off x="941832" y="4297680"/>
            <a:ext cx="100584" cy="100584"/>
          </a:xfrm>
          <a:prstGeom prst="rect">
            <a:avLst/>
          </a:prstGeom>
          <a:solidFill>
            <a:srgbClr val="12A5C6"/>
          </a:solidFill>
          <a:ln/>
        </p:spPr>
      </p:sp>
      <p:sp>
        <p:nvSpPr>
          <p:cNvPr id="9" name="Shape 7"/>
          <p:cNvSpPr/>
          <p:nvPr/>
        </p:nvSpPr>
        <p:spPr>
          <a:xfrm>
            <a:off x="941832" y="4416552"/>
            <a:ext cx="100584" cy="100584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709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Créolité &amp; chaleur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5120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Vraies rencontres, créole en incrustation, gestes du quotidien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43400" y="402336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2365C"/>
          </a:solidFill>
          <a:ln/>
        </p:spPr>
      </p:sp>
      <p:sp>
        <p:nvSpPr>
          <p:cNvPr id="13" name="Shape 11"/>
          <p:cNvSpPr/>
          <p:nvPr/>
        </p:nvSpPr>
        <p:spPr>
          <a:xfrm>
            <a:off x="4617720" y="4297680"/>
            <a:ext cx="100584" cy="100584"/>
          </a:xfrm>
          <a:prstGeom prst="rect">
            <a:avLst/>
          </a:prstGeom>
          <a:solidFill>
            <a:srgbClr val="F2B33D"/>
          </a:solidFill>
          <a:ln/>
        </p:spPr>
      </p:sp>
      <p:sp>
        <p:nvSpPr>
          <p:cNvPr id="14" name="Shape 12"/>
          <p:cNvSpPr/>
          <p:nvPr/>
        </p:nvSpPr>
        <p:spPr>
          <a:xfrm>
            <a:off x="4617720" y="4416552"/>
            <a:ext cx="100584" cy="100584"/>
          </a:xfrm>
          <a:prstGeom prst="rect">
            <a:avLst/>
          </a:prstGeom>
          <a:solidFill>
            <a:srgbClr val="E8654F"/>
          </a:solidFill>
          <a:ln/>
        </p:spPr>
      </p:sp>
      <p:sp>
        <p:nvSpPr>
          <p:cNvPr id="15" name="Shape 13"/>
          <p:cNvSpPr/>
          <p:nvPr/>
        </p:nvSpPr>
        <p:spPr>
          <a:xfrm>
            <a:off x="4736592" y="4297680"/>
            <a:ext cx="100584" cy="100584"/>
          </a:xfrm>
          <a:prstGeom prst="rect">
            <a:avLst/>
          </a:prstGeom>
          <a:solidFill>
            <a:srgbClr val="12A5C6"/>
          </a:solidFill>
          <a:ln/>
        </p:spPr>
      </p:sp>
      <p:sp>
        <p:nvSpPr>
          <p:cNvPr id="16" name="Shape 14"/>
          <p:cNvSpPr/>
          <p:nvPr/>
        </p:nvSpPr>
        <p:spPr>
          <a:xfrm>
            <a:off x="4736592" y="4416552"/>
            <a:ext cx="100584" cy="100584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4709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de marque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17720" y="5120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Bleus Air Caraïbes, lumière dorée tropicale, madras &amp; bakoua en touches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38160" y="402336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2365C"/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0" y="4297680"/>
            <a:ext cx="100584" cy="100584"/>
          </a:xfrm>
          <a:prstGeom prst="rect">
            <a:avLst/>
          </a:prstGeom>
          <a:solidFill>
            <a:srgbClr val="F2B33D"/>
          </a:solidFill>
          <a:ln/>
        </p:spPr>
      </p:sp>
      <p:sp>
        <p:nvSpPr>
          <p:cNvPr id="21" name="Shape 19"/>
          <p:cNvSpPr/>
          <p:nvPr/>
        </p:nvSpPr>
        <p:spPr>
          <a:xfrm>
            <a:off x="8412480" y="4416552"/>
            <a:ext cx="100584" cy="100584"/>
          </a:xfrm>
          <a:prstGeom prst="rect">
            <a:avLst/>
          </a:prstGeom>
          <a:solidFill>
            <a:srgbClr val="E8654F"/>
          </a:solidFill>
          <a:ln/>
        </p:spPr>
      </p:sp>
      <p:sp>
        <p:nvSpPr>
          <p:cNvPr id="22" name="Shape 20"/>
          <p:cNvSpPr/>
          <p:nvPr/>
        </p:nvSpPr>
        <p:spPr>
          <a:xfrm>
            <a:off x="8531352" y="4297680"/>
            <a:ext cx="100584" cy="100584"/>
          </a:xfrm>
          <a:prstGeom prst="rect">
            <a:avLst/>
          </a:prstGeom>
          <a:solidFill>
            <a:srgbClr val="12A5C6"/>
          </a:solidFill>
          <a:ln/>
        </p:spPr>
      </p:sp>
      <p:sp>
        <p:nvSpPr>
          <p:cNvPr id="23" name="Shape 21"/>
          <p:cNvSpPr/>
          <p:nvPr/>
        </p:nvSpPr>
        <p:spPr>
          <a:xfrm>
            <a:off x="8531352" y="4416552"/>
            <a:ext cx="100584" cy="100584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4709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caribéen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12480" y="5120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Biguine / zouk revisité, tambour bèlè en layer — pas de musique de librairie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Caraïbes — Vidéo destination Martinique  ·  Proposition créative  ·  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1521440" y="6446520"/>
            <a:ext cx="82296" cy="82296"/>
          </a:xfrm>
          <a:prstGeom prst="rect">
            <a:avLst/>
          </a:prstGeom>
          <a:solidFill>
            <a:srgbClr val="F2B33D"/>
          </a:solidFill>
          <a:ln/>
        </p:spPr>
      </p:sp>
      <p:sp>
        <p:nvSpPr>
          <p:cNvPr id="28" name="Shape 26"/>
          <p:cNvSpPr/>
          <p:nvPr/>
        </p:nvSpPr>
        <p:spPr>
          <a:xfrm>
            <a:off x="11521440" y="6547104"/>
            <a:ext cx="82296" cy="82296"/>
          </a:xfrm>
          <a:prstGeom prst="rect">
            <a:avLst/>
          </a:prstGeom>
          <a:solidFill>
            <a:srgbClr val="E8654F"/>
          </a:solidFill>
          <a:ln/>
        </p:spPr>
      </p:sp>
      <p:sp>
        <p:nvSpPr>
          <p:cNvPr id="29" name="Shape 27"/>
          <p:cNvSpPr/>
          <p:nvPr/>
        </p:nvSpPr>
        <p:spPr>
          <a:xfrm>
            <a:off x="11622024" y="6446520"/>
            <a:ext cx="82296" cy="82296"/>
          </a:xfrm>
          <a:prstGeom prst="rect">
            <a:avLst/>
          </a:prstGeom>
          <a:solidFill>
            <a:srgbClr val="12A5C6"/>
          </a:solidFill>
          <a:ln/>
        </p:spPr>
      </p:sp>
      <p:sp>
        <p:nvSpPr>
          <p:cNvPr id="30" name="Shape 28"/>
          <p:cNvSpPr/>
          <p:nvPr/>
        </p:nvSpPr>
        <p:spPr>
          <a:xfrm>
            <a:off x="11622024" y="6547104"/>
            <a:ext cx="82296" cy="82296"/>
          </a:xfrm>
          <a:prstGeom prst="rect">
            <a:avLst/>
          </a:prstGeom>
          <a:solidFill>
            <a:srgbClr val="0B2447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2A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recommandé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Bienvenue chez moi »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6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Byenvini an kay-mwen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Un(e) PNC Air Caraïbes atterrit à Fort-de-France. Au fil du film, l'uniforme se dépose — et il/elle nous ouvre sa Martinique : pas les cartes postales, mais les adresses, les gestes et les visages de quelqu'un d'ici. Le film se referme à bord, en boucle :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2A5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À bord, je vous emmène. Ici, je vous accueille. 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variantes possibles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43484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E4F5F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663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Une escale en Martinique »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22960" y="50749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plus proche du format de référence : 24 h chrono, rythme soutenu, structure horaire à l'écran.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443484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E4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4663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Les 5 sens »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37960" y="50749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Chapitres sensoriels (voir, goûter, entendre, toucher, ressentir) — très déclinable en série social media.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Caraïbes — Vidéo destination Martinique  ·  Proposition créative  ·  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1521440" y="6446520"/>
            <a:ext cx="82296" cy="82296"/>
          </a:xfrm>
          <a:prstGeom prst="rect">
            <a:avLst/>
          </a:prstGeom>
          <a:solidFill>
            <a:srgbClr val="F2B33D"/>
          </a:solidFill>
          <a:ln/>
        </p:spPr>
      </p:sp>
      <p:sp>
        <p:nvSpPr>
          <p:cNvPr id="16" name="Shape 14"/>
          <p:cNvSpPr/>
          <p:nvPr/>
        </p:nvSpPr>
        <p:spPr>
          <a:xfrm>
            <a:off x="11521440" y="6547104"/>
            <a:ext cx="82296" cy="82296"/>
          </a:xfrm>
          <a:prstGeom prst="rect">
            <a:avLst/>
          </a:prstGeom>
          <a:solidFill>
            <a:srgbClr val="E8654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622024" y="6446520"/>
            <a:ext cx="82296" cy="82296"/>
          </a:xfrm>
          <a:prstGeom prst="rect">
            <a:avLst/>
          </a:prstGeom>
          <a:solidFill>
            <a:srgbClr val="12A5C6"/>
          </a:solidFill>
          <a:ln/>
        </p:spPr>
      </p:sp>
      <p:sp>
        <p:nvSpPr>
          <p:cNvPr id="18" name="Shape 16"/>
          <p:cNvSpPr/>
          <p:nvPr/>
        </p:nvSpPr>
        <p:spPr>
          <a:xfrm>
            <a:off x="11622024" y="6547104"/>
            <a:ext cx="82296" cy="82296"/>
          </a:xfrm>
          <a:prstGeom prst="rect">
            <a:avLst/>
          </a:prstGeom>
          <a:solidFill>
            <a:srgbClr val="0B2447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transitions signature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match cuts pensés pour être la marque de fabrique du film — et les hooks des formats verticaux.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298448"/>
          </a:xfrm>
          <a:prstGeom prst="roundRect">
            <a:avLst>
              <a:gd name="adj" fmla="val 7042"/>
            </a:avLst>
          </a:prstGeom>
          <a:solidFill>
            <a:srgbClr val="F6F9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76272"/>
            <a:ext cx="603504" cy="603504"/>
          </a:xfrm>
          <a:prstGeom prst="rect">
            <a:avLst/>
          </a:prstGeom>
          <a:solidFill>
            <a:srgbClr val="F2B33D"/>
          </a:solidFill>
          <a:ln/>
        </p:spPr>
      </p:sp>
      <p:sp>
        <p:nvSpPr>
          <p:cNvPr id="6" name="Text 4"/>
          <p:cNvSpPr/>
          <p:nvPr/>
        </p:nvSpPr>
        <p:spPr>
          <a:xfrm>
            <a:off x="1783080" y="199339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Casquette → Bakoua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83080" y="2359152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Le/la PNC ajuste sa casquette d'uniforme face caméra ; même geste, même axe : c'est désormais un chapeau bakoua tressé, plein soleil. En un raccord, on passe de la cabine à la Martinique.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i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match cut identitaire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310128"/>
            <a:ext cx="11064240" cy="1298448"/>
          </a:xfrm>
          <a:prstGeom prst="roundRect">
            <a:avLst>
              <a:gd name="adj" fmla="val 7042"/>
            </a:avLst>
          </a:prstGeom>
          <a:solidFill>
            <a:srgbClr val="F6F9FB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657600"/>
            <a:ext cx="603504" cy="603504"/>
          </a:xfrm>
          <a:prstGeom prst="rect">
            <a:avLst/>
          </a:prstGeom>
          <a:solidFill>
            <a:srgbClr val="E8654F"/>
          </a:solidFill>
          <a:ln/>
        </p:spPr>
      </p:sp>
      <p:sp>
        <p:nvSpPr>
          <p:cNvPr id="11" name="Text 9"/>
          <p:cNvSpPr/>
          <p:nvPr/>
        </p:nvSpPr>
        <p:spPr>
          <a:xfrm>
            <a:off x="1783080" y="3474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Foulard → Madras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83080" y="38404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foulard d'uniforme se dénoue au ralenti ; dans le mouvement, il devient un madras noué. Les carreaux madras contaminent ensuite la palette du film (nappes, voiles de yole, étals du marché).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0" y="37673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i="1" dirty="0">
                <a:solidFill>
                  <a:srgbClr val="E86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 visuel du film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791456"/>
            <a:ext cx="11064240" cy="1298448"/>
          </a:xfrm>
          <a:prstGeom prst="roundRect">
            <a:avLst>
              <a:gd name="adj" fmla="val 7042"/>
            </a:avLst>
          </a:prstGeom>
          <a:solidFill>
            <a:srgbClr val="F6F9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5138928"/>
            <a:ext cx="603504" cy="603504"/>
          </a:xfrm>
          <a:prstGeom prst="rect">
            <a:avLst/>
          </a:prstGeom>
          <a:solidFill>
            <a:srgbClr val="12A5C6"/>
          </a:solidFill>
          <a:ln/>
        </p:spPr>
      </p:sp>
      <p:sp>
        <p:nvSpPr>
          <p:cNvPr id="16" name="Text 14"/>
          <p:cNvSpPr/>
          <p:nvPr/>
        </p:nvSpPr>
        <p:spPr>
          <a:xfrm>
            <a:off x="1783080" y="495604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Porte d'avion → Case créole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83080" y="5321808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porte de l'A350 s'ouvre sur une lumière blanche ; même mouvement, c'est la porte d'une case créole qui s'ouvre sur le jardin. Le son cabine bascule d'un coup sur les alizés.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0" y="52486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i="1" dirty="0">
                <a:solidFill>
                  <a:srgbClr val="12A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 du récit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Caraïbes — Vidéo destination Martinique  ·  Proposition créative  ·  6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1521440" y="6446520"/>
            <a:ext cx="82296" cy="82296"/>
          </a:xfrm>
          <a:prstGeom prst="rect">
            <a:avLst/>
          </a:prstGeom>
          <a:solidFill>
            <a:srgbClr val="F2B33D"/>
          </a:solidFill>
          <a:ln/>
        </p:spPr>
      </p:sp>
      <p:sp>
        <p:nvSpPr>
          <p:cNvPr id="21" name="Shape 19"/>
          <p:cNvSpPr/>
          <p:nvPr/>
        </p:nvSpPr>
        <p:spPr>
          <a:xfrm>
            <a:off x="11521440" y="6547104"/>
            <a:ext cx="82296" cy="82296"/>
          </a:xfrm>
          <a:prstGeom prst="rect">
            <a:avLst/>
          </a:prstGeom>
          <a:solidFill>
            <a:srgbClr val="E8654F"/>
          </a:solidFill>
          <a:ln/>
        </p:spPr>
      </p:sp>
      <p:sp>
        <p:nvSpPr>
          <p:cNvPr id="22" name="Shape 20"/>
          <p:cNvSpPr/>
          <p:nvPr/>
        </p:nvSpPr>
        <p:spPr>
          <a:xfrm>
            <a:off x="11622024" y="6446520"/>
            <a:ext cx="82296" cy="82296"/>
          </a:xfrm>
          <a:prstGeom prst="rect">
            <a:avLst/>
          </a:prstGeom>
          <a:solidFill>
            <a:srgbClr val="12A5C6"/>
          </a:solidFill>
          <a:ln/>
        </p:spPr>
      </p:sp>
      <p:sp>
        <p:nvSpPr>
          <p:cNvPr id="23" name="Shape 21"/>
          <p:cNvSpPr/>
          <p:nvPr/>
        </p:nvSpPr>
        <p:spPr>
          <a:xfrm>
            <a:off x="11622024" y="6547104"/>
            <a:ext cx="82296" cy="82296"/>
          </a:xfrm>
          <a:prstGeom prst="rect">
            <a:avLst/>
          </a:prstGeom>
          <a:solidFill>
            <a:srgbClr val="0B2447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Storyboard — Acte I : l'arrivée (0–35 s)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F6F9FB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1554480" cy="105156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SÉQ.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0–8 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15270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 ciel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468880" y="1911096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Aile de l'A350 au-dessus de l'arc antillais ; hublot, reflet du visage du/de la PNC.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: nappe + souffle. VO : « On me demande souvent ce qu'il y a au bout de la ligne… »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32588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F6F9FB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554480"/>
            <a:ext cx="1554480" cy="1051560"/>
          </a:xfrm>
          <a:prstGeom prst="rect">
            <a:avLst/>
          </a:prstGeom>
          <a:solidFill>
            <a:srgbClr val="12A5C6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55448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SÉQ.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8–15 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83880" y="15270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cut porte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183880" y="1911096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 de l'avion qui s'ouvre → même mouvement, porte d'une case créole. Lumière éclatante.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274320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: la cabine bascule d'un coup sur les oiseaux et les alizés.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F6F9FB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069080"/>
            <a:ext cx="1554480" cy="1051560"/>
          </a:xfrm>
          <a:prstGeom prst="rect">
            <a:avLst/>
          </a:prstGeom>
          <a:solidFill>
            <a:srgbClr val="F2B33D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06908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SÉQ.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15–22 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40416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cut bakoua &amp; madras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2468880" y="4425696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Casquette d'uniforme ajustée face caméra → chapeau bakoua, plein soleil. Le foulard se dénoue et devient madras.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525780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tambour bèlè entre discrètement. C'est la bascule : le/la PNC est « d'ici ».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384048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F6F9FB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4069080"/>
            <a:ext cx="1554480" cy="1051560"/>
          </a:xfrm>
          <a:prstGeom prst="rect">
            <a:avLst/>
          </a:prstGeom>
          <a:solidFill>
            <a:srgbClr val="E8654F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406908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SÉQ. 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22–35 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83880" y="40416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de Fort-de-France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183880" y="4425696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serrés sensoriels : épices, fruits, mains, rires avec une marchande (vraie complicité).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525780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 : « Ici, tout commence par le goût. » Créole en incrustation légère.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Caraïbes — Vidéo destination Martinique  ·  Proposition créative  ·  7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1521440" y="6446520"/>
            <a:ext cx="82296" cy="82296"/>
          </a:xfrm>
          <a:prstGeom prst="rect">
            <a:avLst/>
          </a:prstGeom>
          <a:solidFill>
            <a:srgbClr val="F2B33D"/>
          </a:solidFill>
          <a:ln/>
        </p:spPr>
      </p:sp>
      <p:sp>
        <p:nvSpPr>
          <p:cNvPr id="29" name="Shape 27"/>
          <p:cNvSpPr/>
          <p:nvPr/>
        </p:nvSpPr>
        <p:spPr>
          <a:xfrm>
            <a:off x="11521440" y="6547104"/>
            <a:ext cx="82296" cy="82296"/>
          </a:xfrm>
          <a:prstGeom prst="rect">
            <a:avLst/>
          </a:prstGeom>
          <a:solidFill>
            <a:srgbClr val="E8654F"/>
          </a:solidFill>
          <a:ln/>
        </p:spPr>
      </p:sp>
      <p:sp>
        <p:nvSpPr>
          <p:cNvPr id="30" name="Shape 28"/>
          <p:cNvSpPr/>
          <p:nvPr/>
        </p:nvSpPr>
        <p:spPr>
          <a:xfrm>
            <a:off x="11622024" y="6446520"/>
            <a:ext cx="82296" cy="82296"/>
          </a:xfrm>
          <a:prstGeom prst="rect">
            <a:avLst/>
          </a:prstGeom>
          <a:solidFill>
            <a:srgbClr val="12A5C6"/>
          </a:solidFill>
          <a:ln/>
        </p:spPr>
      </p:sp>
      <p:sp>
        <p:nvSpPr>
          <p:cNvPr id="31" name="Shape 29"/>
          <p:cNvSpPr/>
          <p:nvPr/>
        </p:nvSpPr>
        <p:spPr>
          <a:xfrm>
            <a:off x="11622024" y="6547104"/>
            <a:ext cx="82296" cy="82296"/>
          </a:xfrm>
          <a:prstGeom prst="rect">
            <a:avLst/>
          </a:prstGeom>
          <a:solidFill>
            <a:srgbClr val="0B2447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Storyboard — Acte II : l'île, puis le retour (35–90 s)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F6F9FB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1554480" cy="1051560"/>
          </a:xfrm>
          <a:prstGeom prst="rect">
            <a:avLst/>
          </a:prstGeom>
          <a:solidFill>
            <a:srgbClr val="2C7A4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SÉQ. 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35–50 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15270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468880" y="1911096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: montagne Pelée dans les nuages, presqu'île de la Caravelle ; à hauteur d'homme : cascade, jardin de Balata.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Montée musicale — le film respire, plans larges assumés.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32588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F6F9FB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554480"/>
            <a:ext cx="1554480" cy="1051560"/>
          </a:xfrm>
          <a:prstGeom prst="rect">
            <a:avLst/>
          </a:prstGeom>
          <a:solidFill>
            <a:srgbClr val="12A5C6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55448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SÉQ. 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50–65 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83880" y="15270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183880" y="1911096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Fonds blancs / baignoire de Joséphine ; yole ronde au couchant (patrimoine UNESCO) ; slow motion dans l'eau turquoise.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274320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Chœurs créoles. Le madras réapparaît sur la voile de la yole.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F6F9FB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069080"/>
            <a:ext cx="1554480" cy="1051560"/>
          </a:xfrm>
          <a:prstGeom prst="rect">
            <a:avLst/>
          </a:prstGeom>
          <a:solidFill>
            <a:srgbClr val="F2B33D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06908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SÉQ. 7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65–78 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40416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soir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2468880" y="4425696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Ti-punch préparé en gestes précis, table partagée, lambis grillé, danse, lumière chaude.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525780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 : « Ce que j'aime dans mon métier, c'est ramener un peu de tout ça à bord. »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384048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F6F9FB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4069080"/>
            <a:ext cx="1554480" cy="105156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406908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SÉQ. 8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78–90 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83880" y="40416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finale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183880" y="4425696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cabine : même sourire, en uniforme, accueil d'un passager. Regard caméra. Couchant par le hublot.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525780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: « La Martinique. Avec ceux qui en viennent. » + logo Air Caraïbes.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Caraïbes — Vidéo destination Martinique  ·  Proposition créative  ·  8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1521440" y="6446520"/>
            <a:ext cx="82296" cy="82296"/>
          </a:xfrm>
          <a:prstGeom prst="rect">
            <a:avLst/>
          </a:prstGeom>
          <a:solidFill>
            <a:srgbClr val="F2B33D"/>
          </a:solidFill>
          <a:ln/>
        </p:spPr>
      </p:sp>
      <p:sp>
        <p:nvSpPr>
          <p:cNvPr id="29" name="Shape 27"/>
          <p:cNvSpPr/>
          <p:nvPr/>
        </p:nvSpPr>
        <p:spPr>
          <a:xfrm>
            <a:off x="11521440" y="6547104"/>
            <a:ext cx="82296" cy="82296"/>
          </a:xfrm>
          <a:prstGeom prst="rect">
            <a:avLst/>
          </a:prstGeom>
          <a:solidFill>
            <a:srgbClr val="E8654F"/>
          </a:solidFill>
          <a:ln/>
        </p:spPr>
      </p:sp>
      <p:sp>
        <p:nvSpPr>
          <p:cNvPr id="30" name="Shape 28"/>
          <p:cNvSpPr/>
          <p:nvPr/>
        </p:nvSpPr>
        <p:spPr>
          <a:xfrm>
            <a:off x="11622024" y="6446520"/>
            <a:ext cx="82296" cy="82296"/>
          </a:xfrm>
          <a:prstGeom prst="rect">
            <a:avLst/>
          </a:prstGeom>
          <a:solidFill>
            <a:srgbClr val="12A5C6"/>
          </a:solidFill>
          <a:ln/>
        </p:spPr>
      </p:sp>
      <p:sp>
        <p:nvSpPr>
          <p:cNvPr id="31" name="Shape 29"/>
          <p:cNvSpPr/>
          <p:nvPr/>
        </p:nvSpPr>
        <p:spPr>
          <a:xfrm>
            <a:off x="11622024" y="6547104"/>
            <a:ext cx="82296" cy="82296"/>
          </a:xfrm>
          <a:prstGeom prst="rect">
            <a:avLst/>
          </a:prstGeom>
          <a:solidFill>
            <a:srgbClr val="0B2447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Livrables &amp; déclinaisons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6F9FB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manifeste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33832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16:9 — site, YouTube, événementiel, IFE à bord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01568" y="173736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6F9FB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01568" y="20116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2A5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84448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Cutdown média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630168" y="33832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16:9 / 1:1 — pré-roll, display vidéo, TV segmentée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54496" y="173736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6F9FB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20116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6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437376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social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83096" y="33832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9:16 — Reels / TikTok, hook = match cut bakoua dans les 2 premières secondes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07424" y="173736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6F9FB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07424" y="20116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290304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déclinable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336024" y="33832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Rushes étalonnés livrés pour stories, teasers et contenus RH / marque employeur PNC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5212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2A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format est pensé au tournage (cadrages doublés 16:9 / 9:16), pas recadré en post-production.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Caraïbes — Vidéo destination Martinique  ·  Proposition créative  ·  9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1521440" y="6446520"/>
            <a:ext cx="82296" cy="82296"/>
          </a:xfrm>
          <a:prstGeom prst="rect">
            <a:avLst/>
          </a:prstGeom>
          <a:solidFill>
            <a:srgbClr val="F2B33D"/>
          </a:solidFill>
          <a:ln/>
        </p:spPr>
      </p:sp>
      <p:sp>
        <p:nvSpPr>
          <p:cNvPr id="22" name="Shape 20"/>
          <p:cNvSpPr/>
          <p:nvPr/>
        </p:nvSpPr>
        <p:spPr>
          <a:xfrm>
            <a:off x="11521440" y="6547104"/>
            <a:ext cx="82296" cy="82296"/>
          </a:xfrm>
          <a:prstGeom prst="rect">
            <a:avLst/>
          </a:prstGeom>
          <a:solidFill>
            <a:srgbClr val="E8654F"/>
          </a:solidFill>
          <a:ln/>
        </p:spPr>
      </p:sp>
      <p:sp>
        <p:nvSpPr>
          <p:cNvPr id="23" name="Shape 21"/>
          <p:cNvSpPr/>
          <p:nvPr/>
        </p:nvSpPr>
        <p:spPr>
          <a:xfrm>
            <a:off x="11622024" y="6446520"/>
            <a:ext cx="82296" cy="82296"/>
          </a:xfrm>
          <a:prstGeom prst="rect">
            <a:avLst/>
          </a:prstGeom>
          <a:solidFill>
            <a:srgbClr val="12A5C6"/>
          </a:solidFill>
          <a:ln/>
        </p:spPr>
      </p:sp>
      <p:sp>
        <p:nvSpPr>
          <p:cNvPr id="24" name="Shape 22"/>
          <p:cNvSpPr/>
          <p:nvPr/>
        </p:nvSpPr>
        <p:spPr>
          <a:xfrm>
            <a:off x="11622024" y="6547104"/>
            <a:ext cx="82296" cy="82296"/>
          </a:xfrm>
          <a:prstGeom prst="rect">
            <a:avLst/>
          </a:prstGeom>
          <a:solidFill>
            <a:srgbClr val="0B2447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Prochaines étapes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627632"/>
            <a:ext cx="566928" cy="566928"/>
          </a:xfrm>
          <a:prstGeom prst="ellipse">
            <a:avLst/>
          </a:prstGeom>
          <a:solidFill>
            <a:srgbClr val="F2B3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276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08760" y="1554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du concept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08760" y="193852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l'axe « Bienvenue chez moi » (ou variante) et des transitions signature.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770632"/>
            <a:ext cx="566928" cy="566928"/>
          </a:xfrm>
          <a:prstGeom prst="ellipse">
            <a:avLst/>
          </a:prstGeom>
          <a:solidFill>
            <a:srgbClr val="12A5C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706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2697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Casting PNC &amp; repérages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308152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du/de la PNC avec Air Caraïbes ; repérages Martinique (marché, Caravelle, fonds blancs, yole).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913632"/>
            <a:ext cx="566928" cy="566928"/>
          </a:xfrm>
          <a:prstGeom prst="ellipse">
            <a:avLst/>
          </a:prstGeom>
          <a:solidFill>
            <a:srgbClr val="12A5C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136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08760" y="3840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 &amp; planning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422452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Chiffrage détaillé : pré-prod, tournage sur place, équipe, drone, post-production, musique originale, déclinaisons.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056632"/>
            <a:ext cx="566928" cy="566928"/>
          </a:xfrm>
          <a:prstGeom prst="ellipse">
            <a:avLst/>
          </a:prstGeom>
          <a:solidFill>
            <a:srgbClr val="12A5C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566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983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 illustré &amp; shooting board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08760" y="536752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dessinée plan par plan pour validation finale avant tournage.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1292840" y="6217920"/>
            <a:ext cx="128016" cy="128016"/>
          </a:xfrm>
          <a:prstGeom prst="rect">
            <a:avLst/>
          </a:prstGeom>
          <a:solidFill>
            <a:srgbClr val="F2B33D"/>
          </a:solidFill>
          <a:ln/>
        </p:spPr>
      </p:sp>
      <p:sp>
        <p:nvSpPr>
          <p:cNvPr id="20" name="Shape 18"/>
          <p:cNvSpPr/>
          <p:nvPr/>
        </p:nvSpPr>
        <p:spPr>
          <a:xfrm>
            <a:off x="11292840" y="6364224"/>
            <a:ext cx="128016" cy="128016"/>
          </a:xfrm>
          <a:prstGeom prst="rect">
            <a:avLst/>
          </a:prstGeom>
          <a:solidFill>
            <a:srgbClr val="E8654F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39144" y="6217920"/>
            <a:ext cx="128016" cy="128016"/>
          </a:xfrm>
          <a:prstGeom prst="rect">
            <a:avLst/>
          </a:prstGeom>
          <a:solidFill>
            <a:srgbClr val="12A5C6"/>
          </a:solidFill>
          <a:ln/>
        </p:spPr>
      </p:sp>
      <p:sp>
        <p:nvSpPr>
          <p:cNvPr id="22" name="Shape 20"/>
          <p:cNvSpPr/>
          <p:nvPr/>
        </p:nvSpPr>
        <p:spPr>
          <a:xfrm>
            <a:off x="11439144" y="6364224"/>
            <a:ext cx="128016" cy="128016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A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Idriss Duleme — juillet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2026-07-22T02:23:41Z</dcterms:created>
  <dcterms:modified xsi:type="dcterms:W3CDTF">2026-07-22T02:23:41Z</dcterms:modified>
</cp:coreProperties>
</file>